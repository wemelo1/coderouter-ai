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ck 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ov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notes' 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A096CB8-94ED-4FD5-929E-BC6A652FB2CC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slide. Project: CodeRouter AI. Team: Pr0_M1se (backend/LangGraph), leonard_sesugh (frontend), sleepykaneki (FastAPI/SQLite/auth).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82D110-585E-43FB-9F70-C7DC3445A9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core problem: existing AI tools send every query to expensive remote models regardless of complexity. Simple questions waste API credits.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8FC14B-BDC3-4682-BD30-ED79D6DE90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classifier scores query complexity 1-5. Scores 1-2 go to the free local model. Scores 3+ go to the powerful remote model. The classifier itself runs locally — routing is always free.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096830-6E19-4E02-B2AA-36F47A16A4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system handles 8 diverse task categories as required by Track A. The ML router was retrained on 3858 samples covering all 8 categories.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F90131A-2827-449D-BBBD-F6035B7F17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tech stack overview. Key differentiator: the ML classifier runs locally using scikit-learn, so routing decisions never cost credits.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0FB8A4A-05BA-4917-9640-040BA0AB90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test results from local testing. 60%+ of queries handled locally at zero cost. Remote fires only for genuinely complex queries.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6C0F2A8-CD4F-4AC6-81EE-57E3748637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 features beyond just routing: full cost transparency, user auth, analytics dashboard, persistent history, and polished UI.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4F7A51-CC31-4BB4-B95D-EA00768EBE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Team of 3. Each member owned a distinct layer of the stack.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4AAB88-62C5-41B6-BBED-806E6301CC4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Closing slide. GitHub: github.com/Wemelo1/coderouter-ai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E7F1AF-1D7A-4896-99BF-B546BC2999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text format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</a:t>
            </a: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format</a:t>
            </a:r>
            <a:endParaRPr lang="en-GB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</a:t>
            </a: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</a:t>
            </a: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Outline </a:t>
            </a: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C86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6858000" y="-914400"/>
            <a:ext cx="4571640" cy="4571640"/>
          </a:xfrm>
          <a:prstGeom prst="ellipse">
            <a:avLst/>
          </a:prstGeom>
          <a:solidFill>
            <a:srgbClr val="EBE0D4">
              <a:alpha val="15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-914400" y="3200400"/>
            <a:ext cx="2742840" cy="2742840"/>
          </a:xfrm>
          <a:prstGeom prst="ellipse">
            <a:avLst/>
          </a:prstGeom>
          <a:solidFill>
            <a:srgbClr val="EBE0D4">
              <a:alpha val="15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914400" y="548640"/>
            <a:ext cx="914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GB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914400" y="1234440"/>
            <a:ext cx="7314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Code</a:t>
            </a: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Route</a:t>
            </a: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r AI</a:t>
            </a:r>
            <a:endParaRPr lang="en-GB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331720"/>
            <a:ext cx="6857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Cost-aware AI </a:t>
            </a:r>
            <a:r>
              <a:rPr lang="en-US" sz="18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multitask </a:t>
            </a:r>
            <a:r>
              <a:rPr lang="en-US" sz="18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assistant that </a:t>
            </a:r>
            <a:r>
              <a:rPr lang="en-US" sz="18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intelligently </a:t>
            </a:r>
            <a:r>
              <a:rPr lang="en-US" sz="18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routes</a:t>
            </a: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queries between </a:t>
            </a:r>
            <a:r>
              <a:rPr lang="en-US" sz="18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local and remote </a:t>
            </a:r>
            <a:r>
              <a:rPr lang="en-US" sz="18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models</a:t>
            </a: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914400" y="3383280"/>
            <a:ext cx="1554120" cy="347040"/>
          </a:xfrm>
          <a:prstGeom prst="roundRect">
            <a:avLst>
              <a:gd name="adj" fmla="val 26316"/>
            </a:avLst>
          </a:prstGeom>
          <a:solidFill>
            <a:srgbClr val="212121"/>
          </a:solidFill>
          <a:ln w="12700">
            <a:solidFill>
              <a:srgbClr val="6C6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383280"/>
            <a:ext cx="1554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6C63FF"/>
                </a:solidFill>
                <a:effectLst/>
                <a:uFillTx/>
                <a:latin typeface="Segoe UI"/>
                <a:ea typeface="Segoe UI"/>
              </a:rPr>
              <a:t>LangGraph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2651760" y="3383280"/>
            <a:ext cx="1554120" cy="347040"/>
          </a:xfrm>
          <a:prstGeom prst="roundRect">
            <a:avLst>
              <a:gd name="adj" fmla="val 26316"/>
            </a:avLst>
          </a:prstGeom>
          <a:solidFill>
            <a:srgbClr val="212121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2651760" y="3383280"/>
            <a:ext cx="1554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6C63FF"/>
                </a:solidFill>
                <a:effectLst/>
                <a:uFillTx/>
                <a:latin typeface="Segoe UI"/>
                <a:ea typeface="Segoe UI"/>
              </a:rPr>
              <a:t>Ollama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4389120" y="3383280"/>
            <a:ext cx="1554120" cy="347040"/>
          </a:xfrm>
          <a:prstGeom prst="roundRect">
            <a:avLst>
              <a:gd name="adj" fmla="val 26316"/>
            </a:avLst>
          </a:prstGeom>
          <a:solidFill>
            <a:srgbClr val="212121"/>
          </a:solidFill>
          <a:ln w="1270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4389120" y="3383280"/>
            <a:ext cx="1554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6C63FF"/>
                </a:solidFill>
                <a:effectLst/>
                <a:uFillTx/>
                <a:latin typeface="Segoe UI"/>
                <a:ea typeface="Segoe UI"/>
              </a:rPr>
              <a:t>Fireworks AI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1"/>
          <p:cNvSpPr/>
          <p:nvPr/>
        </p:nvSpPr>
        <p:spPr>
          <a:xfrm>
            <a:off x="6126480" y="3383280"/>
            <a:ext cx="1554120" cy="347040"/>
          </a:xfrm>
          <a:prstGeom prst="roundRect">
            <a:avLst>
              <a:gd name="adj" fmla="val 26316"/>
            </a:avLst>
          </a:prstGeom>
          <a:solidFill>
            <a:srgbClr val="212121"/>
          </a:solidFill>
          <a:ln w="1270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6126480" y="3383280"/>
            <a:ext cx="1554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6C63FF"/>
                </a:solidFill>
                <a:effectLst/>
                <a:uFillTx/>
                <a:latin typeface="Segoe UI"/>
                <a:ea typeface="Segoe UI"/>
              </a:rPr>
              <a:t>Track 1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914400" y="448056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Pr0_M1se · leonard_sesugh · sleepykaneki  |  AMD Developer Hackathon: ACT II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C86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0"/>
          <p:cNvSpPr/>
          <p:nvPr/>
        </p:nvSpPr>
        <p:spPr>
          <a:xfrm>
            <a:off x="548640" y="320040"/>
            <a:ext cx="8046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The Problem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"/>
          <p:cNvSpPr/>
          <p:nvPr/>
        </p:nvSpPr>
        <p:spPr>
          <a:xfrm>
            <a:off x="548640" y="86868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Every AI assistant treats every query the same way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2"/>
          <p:cNvSpPr/>
          <p:nvPr/>
        </p:nvSpPr>
        <p:spPr>
          <a:xfrm>
            <a:off x="548640" y="1417320"/>
            <a:ext cx="3931560" cy="1645560"/>
          </a:xfrm>
          <a:prstGeom prst="roundRect">
            <a:avLst>
              <a:gd name="adj" fmla="val 8333"/>
            </a:avLst>
          </a:prstGeom>
          <a:solidFill>
            <a:srgbClr val="1A2235"/>
          </a:solidFill>
          <a:ln w="1905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3"/>
          <p:cNvSpPr/>
          <p:nvPr/>
        </p:nvSpPr>
        <p:spPr>
          <a:xfrm>
            <a:off x="548640" y="150876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2C55E"/>
                </a:solidFill>
                <a:effectLst/>
                <a:uFillTx/>
                <a:latin typeface="Segoe UI"/>
                <a:ea typeface="Segoe UI"/>
              </a:rPr>
              <a:t>SIMPLE QUERY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4"/>
          <p:cNvSpPr/>
          <p:nvPr/>
        </p:nvSpPr>
        <p:spPr>
          <a:xfrm>
            <a:off x="548640" y="1828800"/>
            <a:ext cx="3931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"What is a variable?"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5"/>
          <p:cNvSpPr/>
          <p:nvPr/>
        </p:nvSpPr>
        <p:spPr>
          <a:xfrm>
            <a:off x="548640" y="2606040"/>
            <a:ext cx="3931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2C55E"/>
                </a:solidFill>
                <a:effectLst/>
                <a:uFillTx/>
                <a:latin typeface="Segoe UI"/>
                <a:ea typeface="Segoe UI"/>
              </a:rPr>
              <a:t>$0.001 wasted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6"/>
          <p:cNvSpPr/>
          <p:nvPr/>
        </p:nvSpPr>
        <p:spPr>
          <a:xfrm>
            <a:off x="4846320" y="1417320"/>
            <a:ext cx="3931560" cy="1645560"/>
          </a:xfrm>
          <a:prstGeom prst="roundRect">
            <a:avLst>
              <a:gd name="adj" fmla="val 8333"/>
            </a:avLst>
          </a:prstGeom>
          <a:solidFill>
            <a:srgbClr val="1A2235"/>
          </a:solidFill>
          <a:ln w="1905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4846320" y="150876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97316"/>
                </a:solidFill>
                <a:effectLst/>
                <a:uFillTx/>
                <a:latin typeface="Segoe UI"/>
                <a:ea typeface="Segoe UI"/>
              </a:rPr>
              <a:t>COMPLEX QUERY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8"/>
          <p:cNvSpPr/>
          <p:nvPr/>
        </p:nvSpPr>
        <p:spPr>
          <a:xfrm>
            <a:off x="4846320" y="1828800"/>
            <a:ext cx="3931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"Design a microservices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architecture for food delivery"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9"/>
          <p:cNvSpPr/>
          <p:nvPr/>
        </p:nvSpPr>
        <p:spPr>
          <a:xfrm>
            <a:off x="4846320" y="2606040"/>
            <a:ext cx="3931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97316"/>
                </a:solidFill>
                <a:effectLst/>
                <a:uFillTx/>
                <a:latin typeface="Segoe UI"/>
                <a:ea typeface="Segoe UI"/>
              </a:rPr>
              <a:t>$0.001 — fair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548640" y="315468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↓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4846320" y="315468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↓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2286000" y="3566160"/>
            <a:ext cx="4571640" cy="502560"/>
          </a:xfrm>
          <a:prstGeom prst="roundRect">
            <a:avLst>
              <a:gd name="adj" fmla="val 21818"/>
            </a:avLst>
          </a:prstGeom>
          <a:solidFill>
            <a:srgbClr val="6C63FF">
              <a:alpha val="8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3"/>
          <p:cNvSpPr/>
          <p:nvPr/>
        </p:nvSpPr>
        <p:spPr>
          <a:xfrm>
            <a:off x="2286000" y="3566160"/>
            <a:ext cx="4571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💸  Expensive Remote Model  (every single time)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4"/>
          <p:cNvSpPr/>
          <p:nvPr/>
        </p:nvSpPr>
        <p:spPr>
          <a:xfrm>
            <a:off x="548640" y="42519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Simple questions waste credits. There's no intelligence in between.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C86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0"/>
          <p:cNvSpPr/>
          <p:nvPr/>
        </p:nvSpPr>
        <p:spPr>
          <a:xfrm>
            <a:off x="548640" y="320040"/>
            <a:ext cx="8046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Our Solution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"/>
          <p:cNvSpPr/>
          <p:nvPr/>
        </p:nvSpPr>
        <p:spPr>
          <a:xfrm>
            <a:off x="365760" y="1371600"/>
            <a:ext cx="1645560" cy="1371240"/>
          </a:xfrm>
          <a:prstGeom prst="roundRect">
            <a:avLst>
              <a:gd name="adj" fmla="val 10000"/>
            </a:avLst>
          </a:prstGeom>
          <a:solidFill>
            <a:srgbClr val="1A2235"/>
          </a:solidFill>
          <a:ln w="25400">
            <a:solidFill>
              <a:srgbClr val="4ECD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"/>
          <p:cNvSpPr/>
          <p:nvPr/>
        </p:nvSpPr>
        <p:spPr>
          <a:xfrm>
            <a:off x="365760" y="1463040"/>
            <a:ext cx="1645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💬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"/>
          <p:cNvSpPr/>
          <p:nvPr/>
        </p:nvSpPr>
        <p:spPr>
          <a:xfrm>
            <a:off x="365760" y="1920240"/>
            <a:ext cx="1645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User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Query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4"/>
          <p:cNvSpPr/>
          <p:nvPr/>
        </p:nvSpPr>
        <p:spPr>
          <a:xfrm>
            <a:off x="2057400" y="1737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→</a:t>
            </a:r>
            <a:endParaRPr lang="en-GB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5"/>
          <p:cNvSpPr/>
          <p:nvPr/>
        </p:nvSpPr>
        <p:spPr>
          <a:xfrm>
            <a:off x="2194560" y="1371600"/>
            <a:ext cx="1645560" cy="1371240"/>
          </a:xfrm>
          <a:prstGeom prst="roundRect">
            <a:avLst>
              <a:gd name="adj" fmla="val 10000"/>
            </a:avLst>
          </a:prstGeom>
          <a:solidFill>
            <a:srgbClr val="1A2235"/>
          </a:solidFill>
          <a:ln w="25400">
            <a:solidFill>
              <a:srgbClr val="6C6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6"/>
          <p:cNvSpPr/>
          <p:nvPr/>
        </p:nvSpPr>
        <p:spPr>
          <a:xfrm>
            <a:off x="2194560" y="1463040"/>
            <a:ext cx="1645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🧠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7"/>
          <p:cNvSpPr/>
          <p:nvPr/>
        </p:nvSpPr>
        <p:spPr>
          <a:xfrm>
            <a:off x="2194560" y="1920240"/>
            <a:ext cx="1645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Classifier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(free, local)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8"/>
          <p:cNvSpPr/>
          <p:nvPr/>
        </p:nvSpPr>
        <p:spPr>
          <a:xfrm>
            <a:off x="3886200" y="1737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→</a:t>
            </a:r>
            <a:endParaRPr lang="en-GB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9"/>
          <p:cNvSpPr/>
          <p:nvPr/>
        </p:nvSpPr>
        <p:spPr>
          <a:xfrm>
            <a:off x="4023360" y="1371600"/>
            <a:ext cx="1645560" cy="1371240"/>
          </a:xfrm>
          <a:prstGeom prst="roundRect">
            <a:avLst>
              <a:gd name="adj" fmla="val 10000"/>
            </a:avLst>
          </a:prstGeom>
          <a:solidFill>
            <a:srgbClr val="1A2235"/>
          </a:solidFill>
          <a:ln w="25400">
            <a:solidFill>
              <a:srgbClr val="6C6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0"/>
          <p:cNvSpPr/>
          <p:nvPr/>
        </p:nvSpPr>
        <p:spPr>
          <a:xfrm>
            <a:off x="4023360" y="1463040"/>
            <a:ext cx="1645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1"/>
          <p:cNvSpPr/>
          <p:nvPr/>
        </p:nvSpPr>
        <p:spPr>
          <a:xfrm>
            <a:off x="4023360" y="1920240"/>
            <a:ext cx="1645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Router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Node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2"/>
          <p:cNvSpPr/>
          <p:nvPr/>
        </p:nvSpPr>
        <p:spPr>
          <a:xfrm>
            <a:off x="3977640" y="288036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2C55E"/>
                </a:solidFill>
                <a:effectLst/>
                <a:uFillTx/>
                <a:latin typeface="Segoe UI"/>
                <a:ea typeface="Segoe UI"/>
              </a:rPr>
              <a:t>Score ≤ 2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3"/>
          <p:cNvSpPr/>
          <p:nvPr/>
        </p:nvSpPr>
        <p:spPr>
          <a:xfrm>
            <a:off x="3657600" y="310896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↙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4"/>
          <p:cNvSpPr/>
          <p:nvPr/>
        </p:nvSpPr>
        <p:spPr>
          <a:xfrm>
            <a:off x="4754880" y="288036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97316"/>
                </a:solidFill>
                <a:effectLst/>
                <a:uFillTx/>
                <a:latin typeface="Segoe UI"/>
                <a:ea typeface="Segoe UI"/>
              </a:rPr>
              <a:t>Score &gt; 2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5"/>
          <p:cNvSpPr/>
          <p:nvPr/>
        </p:nvSpPr>
        <p:spPr>
          <a:xfrm>
            <a:off x="5303520" y="310896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F97316"/>
                </a:solidFill>
                <a:effectLst/>
                <a:uFillTx/>
                <a:latin typeface="Calibri"/>
              </a:rPr>
              <a:t>↘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6"/>
          <p:cNvSpPr/>
          <p:nvPr/>
        </p:nvSpPr>
        <p:spPr>
          <a:xfrm>
            <a:off x="2560320" y="3520440"/>
            <a:ext cx="2285640" cy="1005480"/>
          </a:xfrm>
          <a:prstGeom prst="roundRect">
            <a:avLst>
              <a:gd name="adj" fmla="val 13636"/>
            </a:avLst>
          </a:prstGeom>
          <a:solidFill>
            <a:srgbClr val="1A2235"/>
          </a:solidFill>
          <a:ln w="254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7"/>
          <p:cNvSpPr/>
          <p:nvPr/>
        </p:nvSpPr>
        <p:spPr>
          <a:xfrm>
            <a:off x="2560320" y="3611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2C55E"/>
                </a:solidFill>
                <a:effectLst/>
                <a:uFillTx/>
                <a:latin typeface="Segoe UI"/>
                <a:ea typeface="Segoe UI"/>
              </a:rPr>
              <a:t>🟢  Local Model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8"/>
          <p:cNvSpPr/>
          <p:nvPr/>
        </p:nvSpPr>
        <p:spPr>
          <a:xfrm>
            <a:off x="2560320" y="3913560"/>
            <a:ext cx="2285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Ollama gemma2:2b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FREE · instant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9"/>
          <p:cNvSpPr/>
          <p:nvPr/>
        </p:nvSpPr>
        <p:spPr>
          <a:xfrm>
            <a:off x="5486400" y="3520440"/>
            <a:ext cx="2285640" cy="1005480"/>
          </a:xfrm>
          <a:prstGeom prst="roundRect">
            <a:avLst>
              <a:gd name="adj" fmla="val 13636"/>
            </a:avLst>
          </a:prstGeom>
          <a:solidFill>
            <a:srgbClr val="1A2235"/>
          </a:solidFill>
          <a:ln w="2540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0"/>
          <p:cNvSpPr/>
          <p:nvPr/>
        </p:nvSpPr>
        <p:spPr>
          <a:xfrm>
            <a:off x="5486400" y="3611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97316"/>
                </a:solidFill>
                <a:effectLst/>
                <a:uFillTx/>
                <a:latin typeface="Segoe UI"/>
                <a:ea typeface="Segoe UI"/>
              </a:rPr>
              <a:t>🔴  Remote Model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1"/>
          <p:cNvSpPr/>
          <p:nvPr/>
        </p:nvSpPr>
        <p:spPr>
          <a:xfrm>
            <a:off x="5486400" y="3913560"/>
            <a:ext cx="2285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Fireworks AI MiniMax M3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Used sparingly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C86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320040"/>
            <a:ext cx="8046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Handles 8 Task Categories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8686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Not just code — a true general-purpose multitask AI router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411480" y="1417320"/>
            <a:ext cx="2011320" cy="1325520"/>
          </a:xfrm>
          <a:prstGeom prst="roundRect">
            <a:avLst>
              <a:gd name="adj" fmla="val 8276"/>
            </a:avLst>
          </a:prstGeom>
          <a:solidFill>
            <a:srgbClr val="1A2235"/>
          </a:solidFill>
          <a:ln w="12700">
            <a:solidFill>
              <a:srgbClr val="6C63FF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411480" y="150876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❓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411480" y="189288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Factual Q&amp;A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411480" y="222192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Capital of France?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6"/>
          <p:cNvSpPr/>
          <p:nvPr/>
        </p:nvSpPr>
        <p:spPr>
          <a:xfrm>
            <a:off x="2606040" y="1417320"/>
            <a:ext cx="2011320" cy="1325520"/>
          </a:xfrm>
          <a:prstGeom prst="roundRect">
            <a:avLst>
              <a:gd name="adj" fmla="val 8276"/>
            </a:avLst>
          </a:prstGeom>
          <a:solidFill>
            <a:srgbClr val="1A2235"/>
          </a:solidFill>
          <a:ln w="12700">
            <a:solidFill>
              <a:srgbClr val="6C63FF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7"/>
          <p:cNvSpPr/>
          <p:nvPr/>
        </p:nvSpPr>
        <p:spPr>
          <a:xfrm>
            <a:off x="2606040" y="150876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➕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2606040" y="189288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Math Reasoning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9"/>
          <p:cNvSpPr/>
          <p:nvPr/>
        </p:nvSpPr>
        <p:spPr>
          <a:xfrm>
            <a:off x="2606040" y="222192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Solve 3x + 15 = 45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0"/>
          <p:cNvSpPr/>
          <p:nvPr/>
        </p:nvSpPr>
        <p:spPr>
          <a:xfrm>
            <a:off x="4800600" y="1417320"/>
            <a:ext cx="2011320" cy="1325520"/>
          </a:xfrm>
          <a:prstGeom prst="roundRect">
            <a:avLst>
              <a:gd name="adj" fmla="val 8276"/>
            </a:avLst>
          </a:prstGeom>
          <a:solidFill>
            <a:srgbClr val="1A2235"/>
          </a:solidFill>
          <a:ln w="12700">
            <a:solidFill>
              <a:srgbClr val="6C63FF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1"/>
          <p:cNvSpPr/>
          <p:nvPr/>
        </p:nvSpPr>
        <p:spPr>
          <a:xfrm>
            <a:off x="4800600" y="150876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😊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2"/>
          <p:cNvSpPr/>
          <p:nvPr/>
        </p:nvSpPr>
        <p:spPr>
          <a:xfrm>
            <a:off x="4800600" y="189288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Sentiment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3"/>
          <p:cNvSpPr/>
          <p:nvPr/>
        </p:nvSpPr>
        <p:spPr>
          <a:xfrm>
            <a:off x="4800600" y="222192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Is this review positive?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4"/>
          <p:cNvSpPr/>
          <p:nvPr/>
        </p:nvSpPr>
        <p:spPr>
          <a:xfrm>
            <a:off x="6995160" y="1417320"/>
            <a:ext cx="2011320" cy="1325520"/>
          </a:xfrm>
          <a:prstGeom prst="roundRect">
            <a:avLst>
              <a:gd name="adj" fmla="val 8276"/>
            </a:avLst>
          </a:prstGeom>
          <a:solidFill>
            <a:srgbClr val="1A2235"/>
          </a:solidFill>
          <a:ln w="12700">
            <a:solidFill>
              <a:srgbClr val="6C63FF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5"/>
          <p:cNvSpPr/>
          <p:nvPr/>
        </p:nvSpPr>
        <p:spPr>
          <a:xfrm>
            <a:off x="6995160" y="150876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📝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6"/>
          <p:cNvSpPr/>
          <p:nvPr/>
        </p:nvSpPr>
        <p:spPr>
          <a:xfrm>
            <a:off x="6995160" y="189288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Summarization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7"/>
          <p:cNvSpPr/>
          <p:nvPr/>
        </p:nvSpPr>
        <p:spPr>
          <a:xfrm>
            <a:off x="6995160" y="222192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Summarize this article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8"/>
          <p:cNvSpPr/>
          <p:nvPr/>
        </p:nvSpPr>
        <p:spPr>
          <a:xfrm>
            <a:off x="411480" y="2926080"/>
            <a:ext cx="2011320" cy="1325520"/>
          </a:xfrm>
          <a:prstGeom prst="roundRect">
            <a:avLst>
              <a:gd name="adj" fmla="val 8276"/>
            </a:avLst>
          </a:prstGeom>
          <a:solidFill>
            <a:srgbClr val="1A2235"/>
          </a:solidFill>
          <a:ln w="12700">
            <a:solidFill>
              <a:srgbClr val="6C63FF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9"/>
          <p:cNvSpPr/>
          <p:nvPr/>
        </p:nvSpPr>
        <p:spPr>
          <a:xfrm>
            <a:off x="411480" y="301752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🏷️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0"/>
          <p:cNvSpPr/>
          <p:nvPr/>
        </p:nvSpPr>
        <p:spPr>
          <a:xfrm>
            <a:off x="411480" y="340164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NER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1"/>
          <p:cNvSpPr/>
          <p:nvPr/>
        </p:nvSpPr>
        <p:spPr>
          <a:xfrm>
            <a:off x="411480" y="373068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Extract names &amp; places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2"/>
          <p:cNvSpPr/>
          <p:nvPr/>
        </p:nvSpPr>
        <p:spPr>
          <a:xfrm>
            <a:off x="2606040" y="2926080"/>
            <a:ext cx="2011320" cy="1325520"/>
          </a:xfrm>
          <a:prstGeom prst="roundRect">
            <a:avLst>
              <a:gd name="adj" fmla="val 8276"/>
            </a:avLst>
          </a:prstGeom>
          <a:solidFill>
            <a:srgbClr val="1A2235"/>
          </a:solidFill>
          <a:ln w="12700">
            <a:solidFill>
              <a:srgbClr val="6C63FF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3"/>
          <p:cNvSpPr/>
          <p:nvPr/>
        </p:nvSpPr>
        <p:spPr>
          <a:xfrm>
            <a:off x="2606040" y="301752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🧩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4"/>
          <p:cNvSpPr/>
          <p:nvPr/>
        </p:nvSpPr>
        <p:spPr>
          <a:xfrm>
            <a:off x="2606040" y="340164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Logic Puzzles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5"/>
          <p:cNvSpPr/>
          <p:nvPr/>
        </p:nvSpPr>
        <p:spPr>
          <a:xfrm>
            <a:off x="2606040" y="373068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A &gt; B &gt; C, who's youngest?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6"/>
          <p:cNvSpPr/>
          <p:nvPr/>
        </p:nvSpPr>
        <p:spPr>
          <a:xfrm>
            <a:off x="4800600" y="2926080"/>
            <a:ext cx="2011320" cy="1325520"/>
          </a:xfrm>
          <a:prstGeom prst="roundRect">
            <a:avLst>
              <a:gd name="adj" fmla="val 8276"/>
            </a:avLst>
          </a:prstGeom>
          <a:solidFill>
            <a:srgbClr val="1A2235"/>
          </a:solidFill>
          <a:ln w="12700">
            <a:solidFill>
              <a:srgbClr val="6C63FF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7"/>
          <p:cNvSpPr/>
          <p:nvPr/>
        </p:nvSpPr>
        <p:spPr>
          <a:xfrm>
            <a:off x="4800600" y="301752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🐛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8"/>
          <p:cNvSpPr/>
          <p:nvPr/>
        </p:nvSpPr>
        <p:spPr>
          <a:xfrm>
            <a:off x="4800600" y="340164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Code Debugging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9"/>
          <p:cNvSpPr/>
          <p:nvPr/>
        </p:nvSpPr>
        <p:spPr>
          <a:xfrm>
            <a:off x="4800600" y="373068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Fix this bug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30"/>
          <p:cNvSpPr/>
          <p:nvPr/>
        </p:nvSpPr>
        <p:spPr>
          <a:xfrm>
            <a:off x="6995160" y="2926080"/>
            <a:ext cx="2011320" cy="1325520"/>
          </a:xfrm>
          <a:prstGeom prst="roundRect">
            <a:avLst>
              <a:gd name="adj" fmla="val 8276"/>
            </a:avLst>
          </a:prstGeom>
          <a:solidFill>
            <a:srgbClr val="1A2235"/>
          </a:solidFill>
          <a:ln w="12700">
            <a:solidFill>
              <a:srgbClr val="6C63FF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31"/>
          <p:cNvSpPr/>
          <p:nvPr/>
        </p:nvSpPr>
        <p:spPr>
          <a:xfrm>
            <a:off x="6995160" y="301752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⚙️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32"/>
          <p:cNvSpPr/>
          <p:nvPr/>
        </p:nvSpPr>
        <p:spPr>
          <a:xfrm>
            <a:off x="6995160" y="340164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Code Generation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3"/>
          <p:cNvSpPr/>
          <p:nvPr/>
        </p:nvSpPr>
        <p:spPr>
          <a:xfrm>
            <a:off x="6995160" y="373068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Write a prime checker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C86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548640" y="320040"/>
            <a:ext cx="8046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Tech Stack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"/>
          <p:cNvSpPr/>
          <p:nvPr/>
        </p:nvSpPr>
        <p:spPr>
          <a:xfrm>
            <a:off x="457200" y="1188720"/>
            <a:ext cx="8229240" cy="402120"/>
          </a:xfrm>
          <a:prstGeom prst="roundRect">
            <a:avLst>
              <a:gd name="adj" fmla="val 18182"/>
            </a:avLst>
          </a:prstGeom>
          <a:solidFill>
            <a:srgbClr val="1A2235"/>
          </a:solidFill>
          <a:ln w="12700">
            <a:solidFill>
              <a:srgbClr val="6C6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"/>
          <p:cNvSpPr/>
          <p:nvPr/>
        </p:nvSpPr>
        <p:spPr>
          <a:xfrm>
            <a:off x="594360" y="1188720"/>
            <a:ext cx="18284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Agent Workflow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"/>
          <p:cNvSpPr/>
          <p:nvPr/>
        </p:nvSpPr>
        <p:spPr>
          <a:xfrm>
            <a:off x="2468880" y="1188720"/>
            <a:ext cx="2559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6C63FF"/>
                </a:solidFill>
                <a:effectLst/>
                <a:uFillTx/>
                <a:latin typeface="Segoe UI"/>
                <a:ea typeface="Segoe UI"/>
              </a:rPr>
              <a:t>LangGraph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5120640" y="1188720"/>
            <a:ext cx="3382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Stateful 3-node routing graph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5"/>
          <p:cNvSpPr/>
          <p:nvPr/>
        </p:nvSpPr>
        <p:spPr>
          <a:xfrm>
            <a:off x="457200" y="1664280"/>
            <a:ext cx="8229240" cy="402120"/>
          </a:xfrm>
          <a:prstGeom prst="roundRect">
            <a:avLst>
              <a:gd name="adj" fmla="val 18182"/>
            </a:avLst>
          </a:prstGeom>
          <a:solidFill>
            <a:srgbClr val="1A2235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594360" y="1664280"/>
            <a:ext cx="18284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Local Model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7"/>
          <p:cNvSpPr/>
          <p:nvPr/>
        </p:nvSpPr>
        <p:spPr>
          <a:xfrm>
            <a:off x="2468880" y="1664280"/>
            <a:ext cx="2559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2C55E"/>
                </a:solidFill>
                <a:effectLst/>
                <a:uFillTx/>
                <a:latin typeface="Segoe UI"/>
                <a:ea typeface="Segoe UI"/>
              </a:rPr>
              <a:t>Ollama (gemma2:2b)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8"/>
          <p:cNvSpPr/>
          <p:nvPr/>
        </p:nvSpPr>
        <p:spPr>
          <a:xfrm>
            <a:off x="5120640" y="1664280"/>
            <a:ext cx="3382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Free local inference — zero credits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9"/>
          <p:cNvSpPr/>
          <p:nvPr/>
        </p:nvSpPr>
        <p:spPr>
          <a:xfrm>
            <a:off x="457200" y="2139840"/>
            <a:ext cx="8229240" cy="402120"/>
          </a:xfrm>
          <a:prstGeom prst="roundRect">
            <a:avLst>
              <a:gd name="adj" fmla="val 18182"/>
            </a:avLst>
          </a:prstGeom>
          <a:solidFill>
            <a:srgbClr val="1A2235"/>
          </a:solidFill>
          <a:ln w="1270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0"/>
          <p:cNvSpPr/>
          <p:nvPr/>
        </p:nvSpPr>
        <p:spPr>
          <a:xfrm>
            <a:off x="594360" y="2139840"/>
            <a:ext cx="18284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Remote Model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1"/>
          <p:cNvSpPr/>
          <p:nvPr/>
        </p:nvSpPr>
        <p:spPr>
          <a:xfrm>
            <a:off x="2468880" y="2139840"/>
            <a:ext cx="2559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97316"/>
                </a:solidFill>
                <a:effectLst/>
                <a:uFillTx/>
                <a:latin typeface="Segoe UI"/>
                <a:ea typeface="Segoe UI"/>
              </a:rPr>
              <a:t>Fireworks AI (MiniMax M3)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2"/>
          <p:cNvSpPr/>
          <p:nvPr/>
        </p:nvSpPr>
        <p:spPr>
          <a:xfrm>
            <a:off x="5120640" y="2139840"/>
            <a:ext cx="3382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Serverless, used only for complexity 3+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3"/>
          <p:cNvSpPr/>
          <p:nvPr/>
        </p:nvSpPr>
        <p:spPr>
          <a:xfrm>
            <a:off x="457200" y="2615040"/>
            <a:ext cx="8229240" cy="402120"/>
          </a:xfrm>
          <a:prstGeom prst="roundRect">
            <a:avLst>
              <a:gd name="adj" fmla="val 18182"/>
            </a:avLst>
          </a:prstGeom>
          <a:solidFill>
            <a:srgbClr val="1A2235"/>
          </a:solidFill>
          <a:ln w="12700">
            <a:solidFill>
              <a:srgbClr val="4ECD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4"/>
          <p:cNvSpPr/>
          <p:nvPr/>
        </p:nvSpPr>
        <p:spPr>
          <a:xfrm>
            <a:off x="594360" y="2615040"/>
            <a:ext cx="18284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ML Router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5"/>
          <p:cNvSpPr/>
          <p:nvPr/>
        </p:nvSpPr>
        <p:spPr>
          <a:xfrm>
            <a:off x="2468880" y="2615040"/>
            <a:ext cx="2559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ECDC4"/>
                </a:solidFill>
                <a:effectLst/>
                <a:uFillTx/>
                <a:latin typeface="Segoe UI"/>
                <a:ea typeface="Segoe UI"/>
              </a:rPr>
              <a:t>scikit-learn TF-IDF + SVR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6"/>
          <p:cNvSpPr/>
          <p:nvPr/>
        </p:nvSpPr>
        <p:spPr>
          <a:xfrm>
            <a:off x="5120640" y="2615040"/>
            <a:ext cx="3382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3858-sample retrained classifier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17"/>
          <p:cNvSpPr/>
          <p:nvPr/>
        </p:nvSpPr>
        <p:spPr>
          <a:xfrm>
            <a:off x="457200" y="3090600"/>
            <a:ext cx="8229240" cy="402120"/>
          </a:xfrm>
          <a:prstGeom prst="roundRect">
            <a:avLst>
              <a:gd name="adj" fmla="val 18182"/>
            </a:avLst>
          </a:prstGeom>
          <a:solidFill>
            <a:srgbClr val="1A2235"/>
          </a:solidFill>
          <a:ln w="12700">
            <a:solidFill>
              <a:srgbClr val="6C6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8"/>
          <p:cNvSpPr/>
          <p:nvPr/>
        </p:nvSpPr>
        <p:spPr>
          <a:xfrm>
            <a:off x="594360" y="3090600"/>
            <a:ext cx="18284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Backend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9"/>
          <p:cNvSpPr/>
          <p:nvPr/>
        </p:nvSpPr>
        <p:spPr>
          <a:xfrm>
            <a:off x="2468880" y="3090600"/>
            <a:ext cx="2559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6C63FF"/>
                </a:solidFill>
                <a:effectLst/>
                <a:uFillTx/>
                <a:latin typeface="Segoe UI"/>
                <a:ea typeface="Segoe UI"/>
              </a:rPr>
              <a:t>FastAPI + Uvicorn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0"/>
          <p:cNvSpPr/>
          <p:nvPr/>
        </p:nvSpPr>
        <p:spPr>
          <a:xfrm>
            <a:off x="5120640" y="3090600"/>
            <a:ext cx="3382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REST API with token auth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1"/>
          <p:cNvSpPr/>
          <p:nvPr/>
        </p:nvSpPr>
        <p:spPr>
          <a:xfrm>
            <a:off x="457200" y="3566160"/>
            <a:ext cx="8229240" cy="402120"/>
          </a:xfrm>
          <a:prstGeom prst="roundRect">
            <a:avLst>
              <a:gd name="adj" fmla="val 18182"/>
            </a:avLst>
          </a:prstGeom>
          <a:solidFill>
            <a:srgbClr val="1A2235"/>
          </a:solidFill>
          <a:ln w="12700">
            <a:solidFill>
              <a:srgbClr val="4ECD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2"/>
          <p:cNvSpPr/>
          <p:nvPr/>
        </p:nvSpPr>
        <p:spPr>
          <a:xfrm>
            <a:off x="594360" y="3566160"/>
            <a:ext cx="18284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Database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3"/>
          <p:cNvSpPr/>
          <p:nvPr/>
        </p:nvSpPr>
        <p:spPr>
          <a:xfrm>
            <a:off x="2468880" y="3566160"/>
            <a:ext cx="2559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ECDC4"/>
                </a:solidFill>
                <a:effectLst/>
                <a:uFillTx/>
                <a:latin typeface="Segoe UI"/>
                <a:ea typeface="Segoe UI"/>
              </a:rPr>
              <a:t>SQLite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4"/>
          <p:cNvSpPr/>
          <p:nvPr/>
        </p:nvSpPr>
        <p:spPr>
          <a:xfrm>
            <a:off x="5120640" y="3566160"/>
            <a:ext cx="3382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Persistent query history per user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5"/>
          <p:cNvSpPr/>
          <p:nvPr/>
        </p:nvSpPr>
        <p:spPr>
          <a:xfrm>
            <a:off x="457200" y="4041720"/>
            <a:ext cx="8229240" cy="402120"/>
          </a:xfrm>
          <a:prstGeom prst="roundRect">
            <a:avLst>
              <a:gd name="adj" fmla="val 18182"/>
            </a:avLst>
          </a:prstGeom>
          <a:solidFill>
            <a:srgbClr val="1A2235"/>
          </a:solidFill>
          <a:ln w="12700">
            <a:solidFill>
              <a:srgbClr val="6C6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6"/>
          <p:cNvSpPr/>
          <p:nvPr/>
        </p:nvSpPr>
        <p:spPr>
          <a:xfrm>
            <a:off x="594360" y="4041720"/>
            <a:ext cx="18284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Frontend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7"/>
          <p:cNvSpPr/>
          <p:nvPr/>
        </p:nvSpPr>
        <p:spPr>
          <a:xfrm>
            <a:off x="2468880" y="4041720"/>
            <a:ext cx="2559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6C63FF"/>
                </a:solidFill>
                <a:effectLst/>
                <a:uFillTx/>
                <a:latin typeface="Segoe UI"/>
                <a:ea typeface="Segoe UI"/>
              </a:rPr>
              <a:t>HTML / CSS / JS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8"/>
          <p:cNvSpPr/>
          <p:nvPr/>
        </p:nvSpPr>
        <p:spPr>
          <a:xfrm>
            <a:off x="5120640" y="4041720"/>
            <a:ext cx="3382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Chat UI, analytics dashboard, dark mode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C86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 0"/>
          <p:cNvSpPr/>
          <p:nvPr/>
        </p:nvSpPr>
        <p:spPr>
          <a:xfrm>
            <a:off x="548640" y="320040"/>
            <a:ext cx="8046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Live Results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548640" y="8686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All 8 categories tested — routing works correctly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2"/>
          <p:cNvSpPr/>
          <p:nvPr/>
        </p:nvSpPr>
        <p:spPr>
          <a:xfrm>
            <a:off x="457200" y="1325880"/>
            <a:ext cx="8229240" cy="365400"/>
          </a:xfrm>
          <a:prstGeom prst="roundRect">
            <a:avLst>
              <a:gd name="adj" fmla="val 20000"/>
            </a:avLst>
          </a:prstGeom>
          <a:solidFill>
            <a:srgbClr val="1A2235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3"/>
          <p:cNvSpPr/>
          <p:nvPr/>
        </p:nvSpPr>
        <p:spPr>
          <a:xfrm>
            <a:off x="594360" y="132588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2E8F0"/>
                </a:solidFill>
                <a:effectLst/>
                <a:uFillTx/>
                <a:latin typeface="Segoe UI"/>
                <a:ea typeface="Segoe UI"/>
              </a:rPr>
              <a:t>what is the capital of France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4"/>
          <p:cNvSpPr/>
          <p:nvPr/>
        </p:nvSpPr>
        <p:spPr>
          <a:xfrm>
            <a:off x="6126480" y="1325880"/>
            <a:ext cx="82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1/5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5"/>
          <p:cNvSpPr/>
          <p:nvPr/>
        </p:nvSpPr>
        <p:spPr>
          <a:xfrm>
            <a:off x="7040880" y="1389960"/>
            <a:ext cx="1462680" cy="237240"/>
          </a:xfrm>
          <a:prstGeom prst="roundRect">
            <a:avLst>
              <a:gd name="adj" fmla="val 30769"/>
            </a:avLst>
          </a:prstGeom>
          <a:solidFill>
            <a:srgbClr val="22C55E">
              <a:alpha val="25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6"/>
          <p:cNvSpPr/>
          <p:nvPr/>
        </p:nvSpPr>
        <p:spPr>
          <a:xfrm>
            <a:off x="7040880" y="138996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2C55E"/>
                </a:solidFill>
                <a:effectLst/>
                <a:uFillTx/>
                <a:latin typeface="Segoe UI"/>
                <a:ea typeface="Segoe UI"/>
              </a:rPr>
              <a:t>Local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7"/>
          <p:cNvSpPr/>
          <p:nvPr/>
        </p:nvSpPr>
        <p:spPr>
          <a:xfrm>
            <a:off x="457200" y="1764720"/>
            <a:ext cx="8229240" cy="365400"/>
          </a:xfrm>
          <a:prstGeom prst="roundRect">
            <a:avLst>
              <a:gd name="adj" fmla="val 20000"/>
            </a:avLst>
          </a:prstGeom>
          <a:solidFill>
            <a:srgbClr val="1A2235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8"/>
          <p:cNvSpPr/>
          <p:nvPr/>
        </p:nvSpPr>
        <p:spPr>
          <a:xfrm>
            <a:off x="594360" y="17647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2E8F0"/>
                </a:solidFill>
                <a:effectLst/>
                <a:uFillTx/>
                <a:latin typeface="Segoe UI"/>
                <a:ea typeface="Segoe UI"/>
              </a:rPr>
              <a:t>is this review positive: 'I love this product!'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9"/>
          <p:cNvSpPr/>
          <p:nvPr/>
        </p:nvSpPr>
        <p:spPr>
          <a:xfrm>
            <a:off x="6126480" y="1764720"/>
            <a:ext cx="82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2/5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0"/>
          <p:cNvSpPr/>
          <p:nvPr/>
        </p:nvSpPr>
        <p:spPr>
          <a:xfrm>
            <a:off x="7040880" y="1828800"/>
            <a:ext cx="1462680" cy="237240"/>
          </a:xfrm>
          <a:prstGeom prst="roundRect">
            <a:avLst>
              <a:gd name="adj" fmla="val 30769"/>
            </a:avLst>
          </a:prstGeom>
          <a:solidFill>
            <a:srgbClr val="22C55E">
              <a:alpha val="25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1"/>
          <p:cNvSpPr/>
          <p:nvPr/>
        </p:nvSpPr>
        <p:spPr>
          <a:xfrm>
            <a:off x="7040880" y="182880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2C55E"/>
                </a:solidFill>
                <a:effectLst/>
                <a:uFillTx/>
                <a:latin typeface="Segoe UI"/>
                <a:ea typeface="Segoe UI"/>
              </a:rPr>
              <a:t>Local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2"/>
          <p:cNvSpPr/>
          <p:nvPr/>
        </p:nvSpPr>
        <p:spPr>
          <a:xfrm>
            <a:off x="457200" y="2203560"/>
            <a:ext cx="8229240" cy="365400"/>
          </a:xfrm>
          <a:prstGeom prst="roundRect">
            <a:avLst>
              <a:gd name="adj" fmla="val 20000"/>
            </a:avLst>
          </a:prstGeom>
          <a:solidFill>
            <a:srgbClr val="1A2235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3"/>
          <p:cNvSpPr/>
          <p:nvPr/>
        </p:nvSpPr>
        <p:spPr>
          <a:xfrm>
            <a:off x="594360" y="220356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2E8F0"/>
                </a:solidFill>
                <a:effectLst/>
                <a:uFillTx/>
                <a:latin typeface="Segoe UI"/>
                <a:ea typeface="Segoe UI"/>
              </a:rPr>
              <a:t>summarize: Amazon rainforest produces 20% of world's oxygen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4"/>
          <p:cNvSpPr/>
          <p:nvPr/>
        </p:nvSpPr>
        <p:spPr>
          <a:xfrm>
            <a:off x="6126480" y="2203560"/>
            <a:ext cx="82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2/5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5"/>
          <p:cNvSpPr/>
          <p:nvPr/>
        </p:nvSpPr>
        <p:spPr>
          <a:xfrm>
            <a:off x="7040880" y="2267640"/>
            <a:ext cx="1462680" cy="237240"/>
          </a:xfrm>
          <a:prstGeom prst="roundRect">
            <a:avLst>
              <a:gd name="adj" fmla="val 30769"/>
            </a:avLst>
          </a:prstGeom>
          <a:solidFill>
            <a:srgbClr val="22C55E">
              <a:alpha val="25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6"/>
          <p:cNvSpPr/>
          <p:nvPr/>
        </p:nvSpPr>
        <p:spPr>
          <a:xfrm>
            <a:off x="7040880" y="226764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2C55E"/>
                </a:solidFill>
                <a:effectLst/>
                <a:uFillTx/>
                <a:latin typeface="Segoe UI"/>
                <a:ea typeface="Segoe UI"/>
              </a:rPr>
              <a:t>Local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7"/>
          <p:cNvSpPr/>
          <p:nvPr/>
        </p:nvSpPr>
        <p:spPr>
          <a:xfrm>
            <a:off x="457200" y="2642760"/>
            <a:ext cx="8229240" cy="365400"/>
          </a:xfrm>
          <a:prstGeom prst="roundRect">
            <a:avLst>
              <a:gd name="adj" fmla="val 20000"/>
            </a:avLst>
          </a:prstGeom>
          <a:solidFill>
            <a:srgbClr val="1A2235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8"/>
          <p:cNvSpPr/>
          <p:nvPr/>
        </p:nvSpPr>
        <p:spPr>
          <a:xfrm>
            <a:off x="594360" y="264276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2E8F0"/>
                </a:solidFill>
                <a:effectLst/>
                <a:uFillTx/>
                <a:latin typeface="Segoe UI"/>
                <a:ea typeface="Segoe UI"/>
              </a:rPr>
              <a:t>solve for x: 3x + 15 = 45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9"/>
          <p:cNvSpPr/>
          <p:nvPr/>
        </p:nvSpPr>
        <p:spPr>
          <a:xfrm>
            <a:off x="6126480" y="2642760"/>
            <a:ext cx="82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2/5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20"/>
          <p:cNvSpPr/>
          <p:nvPr/>
        </p:nvSpPr>
        <p:spPr>
          <a:xfrm>
            <a:off x="7040880" y="2706480"/>
            <a:ext cx="1462680" cy="237240"/>
          </a:xfrm>
          <a:prstGeom prst="roundRect">
            <a:avLst>
              <a:gd name="adj" fmla="val 30769"/>
            </a:avLst>
          </a:prstGeom>
          <a:solidFill>
            <a:srgbClr val="22C55E">
              <a:alpha val="25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1"/>
          <p:cNvSpPr/>
          <p:nvPr/>
        </p:nvSpPr>
        <p:spPr>
          <a:xfrm>
            <a:off x="7040880" y="270648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2C55E"/>
                </a:solidFill>
                <a:effectLst/>
                <a:uFillTx/>
                <a:latin typeface="Segoe UI"/>
                <a:ea typeface="Segoe UI"/>
              </a:rPr>
              <a:t>Local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2"/>
          <p:cNvSpPr/>
          <p:nvPr/>
        </p:nvSpPr>
        <p:spPr>
          <a:xfrm>
            <a:off x="457200" y="3081600"/>
            <a:ext cx="8229240" cy="365400"/>
          </a:xfrm>
          <a:prstGeom prst="roundRect">
            <a:avLst>
              <a:gd name="adj" fmla="val 20000"/>
            </a:avLst>
          </a:prstGeom>
          <a:solidFill>
            <a:srgbClr val="1A2235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3"/>
          <p:cNvSpPr/>
          <p:nvPr/>
        </p:nvSpPr>
        <p:spPr>
          <a:xfrm>
            <a:off x="594360" y="308160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2E8F0"/>
                </a:solidFill>
                <a:effectLst/>
                <a:uFillTx/>
                <a:latin typeface="Segoe UI"/>
                <a:ea typeface="Segoe UI"/>
              </a:rPr>
              <a:t>extract names and places from: Elon Musk visited Lagos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24"/>
          <p:cNvSpPr/>
          <p:nvPr/>
        </p:nvSpPr>
        <p:spPr>
          <a:xfrm>
            <a:off x="6126480" y="3081600"/>
            <a:ext cx="82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3/5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5"/>
          <p:cNvSpPr/>
          <p:nvPr/>
        </p:nvSpPr>
        <p:spPr>
          <a:xfrm>
            <a:off x="7040880" y="3145680"/>
            <a:ext cx="1462680" cy="237240"/>
          </a:xfrm>
          <a:prstGeom prst="roundRect">
            <a:avLst>
              <a:gd name="adj" fmla="val 30769"/>
            </a:avLst>
          </a:prstGeom>
          <a:solidFill>
            <a:srgbClr val="22C55E">
              <a:alpha val="25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6"/>
          <p:cNvSpPr/>
          <p:nvPr/>
        </p:nvSpPr>
        <p:spPr>
          <a:xfrm>
            <a:off x="7040880" y="314568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2C55E"/>
                </a:solidFill>
                <a:effectLst/>
                <a:uFillTx/>
                <a:latin typeface="Segoe UI"/>
                <a:ea typeface="Segoe UI"/>
              </a:rPr>
              <a:t>Local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7"/>
          <p:cNvSpPr/>
          <p:nvPr/>
        </p:nvSpPr>
        <p:spPr>
          <a:xfrm>
            <a:off x="457200" y="3520440"/>
            <a:ext cx="8229240" cy="365400"/>
          </a:xfrm>
          <a:prstGeom prst="roundRect">
            <a:avLst>
              <a:gd name="adj" fmla="val 20000"/>
            </a:avLst>
          </a:prstGeom>
          <a:solidFill>
            <a:srgbClr val="1A2235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8"/>
          <p:cNvSpPr/>
          <p:nvPr/>
        </p:nvSpPr>
        <p:spPr>
          <a:xfrm>
            <a:off x="594360" y="352044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2E8F0"/>
                </a:solidFill>
                <a:effectLst/>
                <a:uFillTx/>
                <a:latin typeface="Segoe UI"/>
                <a:ea typeface="Segoe UI"/>
              </a:rPr>
              <a:t>write a python function to check if a number is prime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9"/>
          <p:cNvSpPr/>
          <p:nvPr/>
        </p:nvSpPr>
        <p:spPr>
          <a:xfrm>
            <a:off x="6126480" y="3520440"/>
            <a:ext cx="82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3/5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30"/>
          <p:cNvSpPr/>
          <p:nvPr/>
        </p:nvSpPr>
        <p:spPr>
          <a:xfrm>
            <a:off x="7040880" y="3584520"/>
            <a:ext cx="1462680" cy="237240"/>
          </a:xfrm>
          <a:prstGeom prst="roundRect">
            <a:avLst>
              <a:gd name="adj" fmla="val 30769"/>
            </a:avLst>
          </a:prstGeom>
          <a:solidFill>
            <a:srgbClr val="22C55E">
              <a:alpha val="25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31"/>
          <p:cNvSpPr/>
          <p:nvPr/>
        </p:nvSpPr>
        <p:spPr>
          <a:xfrm>
            <a:off x="7040880" y="358452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2C55E"/>
                </a:solidFill>
                <a:effectLst/>
                <a:uFillTx/>
                <a:latin typeface="Segoe UI"/>
                <a:ea typeface="Segoe UI"/>
              </a:rPr>
              <a:t>Local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32"/>
          <p:cNvSpPr/>
          <p:nvPr/>
        </p:nvSpPr>
        <p:spPr>
          <a:xfrm>
            <a:off x="457200" y="3959280"/>
            <a:ext cx="8229240" cy="365400"/>
          </a:xfrm>
          <a:prstGeom prst="roundRect">
            <a:avLst>
              <a:gd name="adj" fmla="val 20000"/>
            </a:avLst>
          </a:prstGeom>
          <a:solidFill>
            <a:srgbClr val="1A2235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3"/>
          <p:cNvSpPr/>
          <p:nvPr/>
        </p:nvSpPr>
        <p:spPr>
          <a:xfrm>
            <a:off x="594360" y="395928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2E8F0"/>
                </a:solidFill>
                <a:effectLst/>
                <a:uFillTx/>
                <a:latin typeface="Segoe UI"/>
                <a:ea typeface="Segoe UI"/>
              </a:rPr>
              <a:t>design a microservices architecture for food delivery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34"/>
          <p:cNvSpPr/>
          <p:nvPr/>
        </p:nvSpPr>
        <p:spPr>
          <a:xfrm>
            <a:off x="6126480" y="3959280"/>
            <a:ext cx="82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5/5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35"/>
          <p:cNvSpPr/>
          <p:nvPr/>
        </p:nvSpPr>
        <p:spPr>
          <a:xfrm>
            <a:off x="7040880" y="4023360"/>
            <a:ext cx="1462680" cy="237240"/>
          </a:xfrm>
          <a:prstGeom prst="roundRect">
            <a:avLst>
              <a:gd name="adj" fmla="val 30769"/>
            </a:avLst>
          </a:prstGeom>
          <a:solidFill>
            <a:srgbClr val="F97316">
              <a:alpha val="25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36"/>
          <p:cNvSpPr/>
          <p:nvPr/>
        </p:nvSpPr>
        <p:spPr>
          <a:xfrm>
            <a:off x="7040880" y="402336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97316"/>
                </a:solidFill>
                <a:effectLst/>
                <a:uFillTx/>
                <a:latin typeface="Segoe UI"/>
                <a:ea typeface="Segoe UI"/>
              </a:rPr>
              <a:t>Remote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C86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 0"/>
          <p:cNvSpPr/>
          <p:nvPr/>
        </p:nvSpPr>
        <p:spPr>
          <a:xfrm>
            <a:off x="548640" y="320040"/>
            <a:ext cx="8046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Key Features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"/>
          <p:cNvSpPr/>
          <p:nvPr/>
        </p:nvSpPr>
        <p:spPr>
          <a:xfrm>
            <a:off x="457200" y="1188720"/>
            <a:ext cx="4023000" cy="1096920"/>
          </a:xfrm>
          <a:prstGeom prst="roundRect">
            <a:avLst>
              <a:gd name="adj" fmla="val 10000"/>
            </a:avLst>
          </a:prstGeom>
          <a:solidFill>
            <a:srgbClr val="1A2235"/>
          </a:solidFill>
          <a:ln w="12700">
            <a:solidFill>
              <a:srgbClr val="6C63FF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"/>
          <p:cNvSpPr/>
          <p:nvPr/>
        </p:nvSpPr>
        <p:spPr>
          <a:xfrm>
            <a:off x="594360" y="1280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💰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3"/>
          <p:cNvSpPr/>
          <p:nvPr/>
        </p:nvSpPr>
        <p:spPr>
          <a:xfrm>
            <a:off x="1143000" y="128016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Full Cost Transparency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4"/>
          <p:cNvSpPr/>
          <p:nvPr/>
        </p:nvSpPr>
        <p:spPr>
          <a:xfrm>
            <a:off x="1143000" y="162756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Every response shows model used, complexity score, tokens, credits saved and spent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5"/>
          <p:cNvSpPr/>
          <p:nvPr/>
        </p:nvSpPr>
        <p:spPr>
          <a:xfrm>
            <a:off x="4846320" y="1188720"/>
            <a:ext cx="4023000" cy="1096920"/>
          </a:xfrm>
          <a:prstGeom prst="roundRect">
            <a:avLst>
              <a:gd name="adj" fmla="val 10000"/>
            </a:avLst>
          </a:prstGeom>
          <a:solidFill>
            <a:srgbClr val="1A2235"/>
          </a:solidFill>
          <a:ln w="12700">
            <a:solidFill>
              <a:srgbClr val="6C63FF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6"/>
          <p:cNvSpPr/>
          <p:nvPr/>
        </p:nvSpPr>
        <p:spPr>
          <a:xfrm>
            <a:off x="4983480" y="1280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🔐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7"/>
          <p:cNvSpPr/>
          <p:nvPr/>
        </p:nvSpPr>
        <p:spPr>
          <a:xfrm>
            <a:off x="5532120" y="128016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User Auth &amp; Data Isolation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8"/>
          <p:cNvSpPr/>
          <p:nvPr/>
        </p:nvSpPr>
        <p:spPr>
          <a:xfrm>
            <a:off x="5532120" y="162756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Token-based sessions, each user's history scoped to their ID — no cross-user leakage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9"/>
          <p:cNvSpPr/>
          <p:nvPr/>
        </p:nvSpPr>
        <p:spPr>
          <a:xfrm>
            <a:off x="457200" y="2423160"/>
            <a:ext cx="4023000" cy="1096920"/>
          </a:xfrm>
          <a:prstGeom prst="roundRect">
            <a:avLst>
              <a:gd name="adj" fmla="val 10000"/>
            </a:avLst>
          </a:prstGeom>
          <a:solidFill>
            <a:srgbClr val="1A2235"/>
          </a:solidFill>
          <a:ln w="12700">
            <a:solidFill>
              <a:srgbClr val="6C63FF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0"/>
          <p:cNvSpPr/>
          <p:nvPr/>
        </p:nvSpPr>
        <p:spPr>
          <a:xfrm>
            <a:off x="594360" y="25146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📊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1"/>
          <p:cNvSpPr/>
          <p:nvPr/>
        </p:nvSpPr>
        <p:spPr>
          <a:xfrm>
            <a:off x="1143000" y="251460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Real-time Analytics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2"/>
          <p:cNvSpPr/>
          <p:nvPr/>
        </p:nvSpPr>
        <p:spPr>
          <a:xfrm>
            <a:off x="1143000" y="286200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Live dashboard: total queries, local vs remote split, savings — updated after every message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3"/>
          <p:cNvSpPr/>
          <p:nvPr/>
        </p:nvSpPr>
        <p:spPr>
          <a:xfrm>
            <a:off x="4846320" y="2423160"/>
            <a:ext cx="4023000" cy="1096920"/>
          </a:xfrm>
          <a:prstGeom prst="roundRect">
            <a:avLst>
              <a:gd name="adj" fmla="val 10000"/>
            </a:avLst>
          </a:prstGeom>
          <a:solidFill>
            <a:srgbClr val="1A2235"/>
          </a:solidFill>
          <a:ln w="12700">
            <a:solidFill>
              <a:srgbClr val="6C63FF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4"/>
          <p:cNvSpPr/>
          <p:nvPr/>
        </p:nvSpPr>
        <p:spPr>
          <a:xfrm>
            <a:off x="4983480" y="25146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💾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5"/>
          <p:cNvSpPr/>
          <p:nvPr/>
        </p:nvSpPr>
        <p:spPr>
          <a:xfrm>
            <a:off x="5532120" y="251460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Persistent History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6"/>
          <p:cNvSpPr/>
          <p:nvPr/>
        </p:nvSpPr>
        <p:spPr>
          <a:xfrm>
            <a:off x="5532120" y="286200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SQLite stores every query, response, and routing decision across sessions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7"/>
          <p:cNvSpPr/>
          <p:nvPr/>
        </p:nvSpPr>
        <p:spPr>
          <a:xfrm>
            <a:off x="457200" y="3657600"/>
            <a:ext cx="4023000" cy="1096920"/>
          </a:xfrm>
          <a:prstGeom prst="roundRect">
            <a:avLst>
              <a:gd name="adj" fmla="val 10000"/>
            </a:avLst>
          </a:prstGeom>
          <a:solidFill>
            <a:srgbClr val="1A2235"/>
          </a:solidFill>
          <a:ln w="12700">
            <a:solidFill>
              <a:srgbClr val="6C63FF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8"/>
          <p:cNvSpPr/>
          <p:nvPr/>
        </p:nvSpPr>
        <p:spPr>
          <a:xfrm>
            <a:off x="594360" y="37490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🎨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9"/>
          <p:cNvSpPr/>
          <p:nvPr/>
        </p:nvSpPr>
        <p:spPr>
          <a:xfrm>
            <a:off x="1143000" y="374904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Dark / Light Mode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0"/>
          <p:cNvSpPr/>
          <p:nvPr/>
        </p:nvSpPr>
        <p:spPr>
          <a:xfrm>
            <a:off x="1143000" y="409644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Full theme toggle with system preference detection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21"/>
          <p:cNvSpPr/>
          <p:nvPr/>
        </p:nvSpPr>
        <p:spPr>
          <a:xfrm>
            <a:off x="4846320" y="3657600"/>
            <a:ext cx="4023000" cy="1096920"/>
          </a:xfrm>
          <a:prstGeom prst="roundRect">
            <a:avLst>
              <a:gd name="adj" fmla="val 10000"/>
            </a:avLst>
          </a:prstGeom>
          <a:solidFill>
            <a:srgbClr val="1A2235"/>
          </a:solidFill>
          <a:ln w="12700">
            <a:solidFill>
              <a:srgbClr val="6C63FF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2"/>
          <p:cNvSpPr/>
          <p:nvPr/>
        </p:nvSpPr>
        <p:spPr>
          <a:xfrm>
            <a:off x="4983480" y="37490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🖌️</a:t>
            </a:r>
            <a:endParaRPr lang="en-GB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3"/>
          <p:cNvSpPr/>
          <p:nvPr/>
        </p:nvSpPr>
        <p:spPr>
          <a:xfrm>
            <a:off x="5532120" y="374904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Syntax Highlighting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4"/>
          <p:cNvSpPr/>
          <p:nvPr/>
        </p:nvSpPr>
        <p:spPr>
          <a:xfrm>
            <a:off x="5532120" y="409644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Code blocks auto-highlighted via Prism.js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C86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 0"/>
          <p:cNvSpPr/>
          <p:nvPr/>
        </p:nvSpPr>
        <p:spPr>
          <a:xfrm>
            <a:off x="548640" y="320040"/>
            <a:ext cx="8046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The Team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"/>
          <p:cNvSpPr/>
          <p:nvPr/>
        </p:nvSpPr>
        <p:spPr>
          <a:xfrm>
            <a:off x="457200" y="1143000"/>
            <a:ext cx="2651400" cy="3200040"/>
          </a:xfrm>
          <a:prstGeom prst="roundRect">
            <a:avLst>
              <a:gd name="adj" fmla="val 5172"/>
            </a:avLst>
          </a:prstGeom>
          <a:solidFill>
            <a:srgbClr val="1A2235"/>
          </a:solidFill>
          <a:ln w="25400">
            <a:solidFill>
              <a:srgbClr val="6C6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"/>
          <p:cNvSpPr/>
          <p:nvPr/>
        </p:nvSpPr>
        <p:spPr>
          <a:xfrm>
            <a:off x="1325880" y="1325880"/>
            <a:ext cx="914040" cy="914040"/>
          </a:xfrm>
          <a:prstGeom prst="ellipse">
            <a:avLst/>
          </a:prstGeom>
          <a:solidFill>
            <a:srgbClr val="212121">
              <a:alpha val="7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1325880" y="1325880"/>
            <a:ext cx="914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P</a:t>
            </a:r>
            <a:endParaRPr lang="en-GB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4"/>
          <p:cNvSpPr/>
          <p:nvPr/>
        </p:nvSpPr>
        <p:spPr>
          <a:xfrm>
            <a:off x="457200" y="2377440"/>
            <a:ext cx="2651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Pr0_M1se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5"/>
          <p:cNvSpPr/>
          <p:nvPr/>
        </p:nvSpPr>
        <p:spPr>
          <a:xfrm>
            <a:off x="457200" y="2697480"/>
            <a:ext cx="2651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6C63FF"/>
                </a:solidFill>
                <a:effectLst/>
                <a:uFillTx/>
                <a:latin typeface="Segoe UI"/>
                <a:ea typeface="Segoe UI"/>
              </a:rPr>
              <a:t>Backend &amp; LangGraph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594360" y="3063240"/>
            <a:ext cx="23770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LangGraph architecture</a:t>
            </a:r>
            <a:endParaRPr lang="en-GB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Routing logic</a:t>
            </a:r>
            <a:endParaRPr lang="en-GB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Backend integration</a:t>
            </a:r>
            <a:endParaRPr lang="en-GB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ML router retraining</a:t>
            </a:r>
            <a:endParaRPr lang="en-GB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7"/>
          <p:cNvSpPr/>
          <p:nvPr/>
        </p:nvSpPr>
        <p:spPr>
          <a:xfrm>
            <a:off x="3355920" y="1143000"/>
            <a:ext cx="2651400" cy="3200040"/>
          </a:xfrm>
          <a:prstGeom prst="roundRect">
            <a:avLst>
              <a:gd name="adj" fmla="val 5172"/>
            </a:avLst>
          </a:prstGeom>
          <a:solidFill>
            <a:srgbClr val="1A2235"/>
          </a:solidFill>
          <a:ln w="25400">
            <a:solidFill>
              <a:srgbClr val="4ECD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8"/>
          <p:cNvSpPr/>
          <p:nvPr/>
        </p:nvSpPr>
        <p:spPr>
          <a:xfrm>
            <a:off x="4224600" y="1325880"/>
            <a:ext cx="914040" cy="914040"/>
          </a:xfrm>
          <a:prstGeom prst="ellipse">
            <a:avLst/>
          </a:prstGeom>
          <a:solidFill>
            <a:srgbClr val="212121">
              <a:alpha val="7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9"/>
          <p:cNvSpPr/>
          <p:nvPr/>
        </p:nvSpPr>
        <p:spPr>
          <a:xfrm>
            <a:off x="4224600" y="1325880"/>
            <a:ext cx="914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L</a:t>
            </a:r>
            <a:endParaRPr lang="en-GB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0"/>
          <p:cNvSpPr/>
          <p:nvPr/>
        </p:nvSpPr>
        <p:spPr>
          <a:xfrm>
            <a:off x="3355920" y="2377440"/>
            <a:ext cx="2651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leonard_sesugh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1"/>
          <p:cNvSpPr/>
          <p:nvPr/>
        </p:nvSpPr>
        <p:spPr>
          <a:xfrm>
            <a:off x="3355920" y="2697480"/>
            <a:ext cx="2651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4ECDC4"/>
                </a:solidFill>
                <a:effectLst/>
                <a:uFillTx/>
                <a:latin typeface="Segoe UI"/>
                <a:ea typeface="Segoe UI"/>
              </a:rPr>
              <a:t>Frontend &amp; UI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2"/>
          <p:cNvSpPr/>
          <p:nvPr/>
        </p:nvSpPr>
        <p:spPr>
          <a:xfrm>
            <a:off x="3493080" y="3063240"/>
            <a:ext cx="23770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Chat interface</a:t>
            </a:r>
            <a:endParaRPr lang="en-GB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Design system</a:t>
            </a:r>
            <a:endParaRPr lang="en-GB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Analytics dashboard</a:t>
            </a:r>
            <a:endParaRPr lang="en-GB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Dark/light mode</a:t>
            </a:r>
            <a:endParaRPr lang="en-GB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3"/>
          <p:cNvSpPr/>
          <p:nvPr/>
        </p:nvSpPr>
        <p:spPr>
          <a:xfrm>
            <a:off x="6254640" y="1143000"/>
            <a:ext cx="2651400" cy="3200040"/>
          </a:xfrm>
          <a:prstGeom prst="roundRect">
            <a:avLst>
              <a:gd name="adj" fmla="val 5172"/>
            </a:avLst>
          </a:prstGeom>
          <a:solidFill>
            <a:srgbClr val="1A2235"/>
          </a:solidFill>
          <a:ln w="254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4"/>
          <p:cNvSpPr/>
          <p:nvPr/>
        </p:nvSpPr>
        <p:spPr>
          <a:xfrm>
            <a:off x="7123320" y="1325880"/>
            <a:ext cx="914040" cy="914040"/>
          </a:xfrm>
          <a:prstGeom prst="ellipse">
            <a:avLst/>
          </a:prstGeom>
          <a:solidFill>
            <a:srgbClr val="212121">
              <a:alpha val="7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5"/>
          <p:cNvSpPr/>
          <p:nvPr/>
        </p:nvSpPr>
        <p:spPr>
          <a:xfrm>
            <a:off x="7123320" y="1325880"/>
            <a:ext cx="914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</a:t>
            </a:r>
            <a:endParaRPr lang="en-GB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6"/>
          <p:cNvSpPr/>
          <p:nvPr/>
        </p:nvSpPr>
        <p:spPr>
          <a:xfrm>
            <a:off x="6254640" y="2377440"/>
            <a:ext cx="2651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sleepykaneki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7"/>
          <p:cNvSpPr/>
          <p:nvPr/>
        </p:nvSpPr>
        <p:spPr>
          <a:xfrm>
            <a:off x="6254640" y="2697480"/>
            <a:ext cx="2651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2C55E"/>
                </a:solidFill>
                <a:effectLst/>
                <a:uFillTx/>
                <a:latin typeface="Segoe UI"/>
                <a:ea typeface="Segoe UI"/>
              </a:rPr>
              <a:t>API &amp; Data Layer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8"/>
          <p:cNvSpPr/>
          <p:nvPr/>
        </p:nvSpPr>
        <p:spPr>
          <a:xfrm>
            <a:off x="6391800" y="3063240"/>
            <a:ext cx="23770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FastAPI server</a:t>
            </a:r>
            <a:endParaRPr lang="en-GB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SQLite &amp; auth</a:t>
            </a:r>
            <a:endParaRPr lang="en-GB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Classifier tuning</a:t>
            </a:r>
            <a:endParaRPr lang="en-GB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Security &amp; testing</a:t>
            </a:r>
            <a:endParaRPr lang="en-GB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C86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Shape 0"/>
          <p:cNvSpPr/>
          <p:nvPr/>
        </p:nvSpPr>
        <p:spPr>
          <a:xfrm>
            <a:off x="5943600" y="-457200"/>
            <a:ext cx="4571640" cy="4571640"/>
          </a:xfrm>
          <a:prstGeom prst="ellipse">
            <a:avLst/>
          </a:prstGeom>
          <a:solidFill>
            <a:srgbClr val="EBE0D4">
              <a:alpha val="12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3200400" y="731520"/>
            <a:ext cx="2742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GB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"/>
          <p:cNvSpPr/>
          <p:nvPr/>
        </p:nvSpPr>
        <p:spPr>
          <a:xfrm>
            <a:off x="914400" y="1554480"/>
            <a:ext cx="7314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CodeRouter AI</a:t>
            </a:r>
            <a:endParaRPr lang="en-GB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3"/>
          <p:cNvSpPr/>
          <p:nvPr/>
        </p:nvSpPr>
        <p:spPr>
          <a:xfrm>
            <a:off x="914400" y="251460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Intelligent routing. Zero wasted credits. Full transparency.</a:t>
            </a:r>
            <a:endParaRPr lang="en-GB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4"/>
          <p:cNvSpPr/>
          <p:nvPr/>
        </p:nvSpPr>
        <p:spPr>
          <a:xfrm>
            <a:off x="1828800" y="3154680"/>
            <a:ext cx="5486040" cy="456840"/>
          </a:xfrm>
          <a:prstGeom prst="roundRect">
            <a:avLst>
              <a:gd name="adj" fmla="val 20000"/>
            </a:avLst>
          </a:prstGeom>
          <a:solidFill>
            <a:srgbClr val="1A2235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5"/>
          <p:cNvSpPr/>
          <p:nvPr/>
        </p:nvSpPr>
        <p:spPr>
          <a:xfrm>
            <a:off x="1828800" y="315468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C63FF"/>
                </a:solidFill>
                <a:effectLst/>
                <a:uFillTx/>
                <a:latin typeface="Segoe UI"/>
                <a:ea typeface="Segoe UI"/>
              </a:rPr>
              <a:t>🔗  github.com/Wemelo1/coderouter-ai  |  AMD Developer Hackathon: ACT II  |  Track 1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914400" y="429768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Segoe UI"/>
                <a:ea typeface="Segoe UI"/>
              </a:rPr>
              <a:t>Built for AMD Developer Hackathon: ACT II on lablab.ai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</TotalTime>
  <Application>LibreOffice/26.2.4.2$Windows_X86_64 LibreOffice_project/0229ac93fcf0d7cbc6376066c6f35021cef002dc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2026-07-09T23:52:46Z</dcterms:created>
  <dc:creator>PptxGenJS</dc:creator>
  <dc:description/>
  <dc:language>en-GB</dc:language>
  <cp:lastModifiedBy/>
  <dcterms:modified xsi:type="dcterms:W3CDTF">2026-07-10T21:49:46Z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